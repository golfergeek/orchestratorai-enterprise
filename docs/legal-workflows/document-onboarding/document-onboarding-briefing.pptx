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17bd931ab4210" /><Relationship Type="http://schemas.openxmlformats.org/officeDocument/2006/relationships/extended-properties" Target="/docProps/app.xml" Id="Re121ece658164379" /><Relationship Type="http://schemas.openxmlformats.org/officeDocument/2006/relationships/officeDocument" Target="/ppt/presentation.xml" Id="R5fffc8e03fb74f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2e167266bb40f6"/>
  </p:sldMasterIdLst>
  <p:notesMasterIdLst>
    <p:notesMasterId xmlns:r="http://schemas.openxmlformats.org/officeDocument/2006/relationships" r:id="R3d9177623fe64810"/>
  </p:notesMasterIdLst>
  <p:sldIdLst>
    <p:sldId xmlns:r="http://schemas.openxmlformats.org/officeDocument/2006/relationships" id="256" r:id="Ra1febc9ec8e44b14"/>
    <p:sldId xmlns:r="http://schemas.openxmlformats.org/officeDocument/2006/relationships" id="257" r:id="R9577f95f14e342da"/>
    <p:sldId xmlns:r="http://schemas.openxmlformats.org/officeDocument/2006/relationships" id="258" r:id="Rcf0899d0b3bf48c3"/>
    <p:sldId xmlns:r="http://schemas.openxmlformats.org/officeDocument/2006/relationships" id="259" r:id="Rcb21478edfe646e1"/>
    <p:sldId xmlns:r="http://schemas.openxmlformats.org/officeDocument/2006/relationships" id="260" r:id="R782fa7d787104895"/>
    <p:sldId xmlns:r="http://schemas.openxmlformats.org/officeDocument/2006/relationships" id="261" r:id="Ra037d34f39f9456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e167266bb40f6" /><Relationship Type="http://schemas.openxmlformats.org/officeDocument/2006/relationships/theme" Target="/ppt/theme/theme1.xml" Id="R74b98fa1cde34d5c" /><Relationship Type="http://schemas.openxmlformats.org/officeDocument/2006/relationships/notesMaster" Target="/ppt/notesMasters/notesMaster1.xml" Id="R3d9177623fe64810" /><Relationship Type="http://schemas.openxmlformats.org/officeDocument/2006/relationships/presProps" Target="/ppt/presProps.xml" Id="R6e87336a64d446fe" /><Relationship Type="http://schemas.openxmlformats.org/officeDocument/2006/relationships/viewProps" Target="/ppt/viewProps.xml" Id="Rfc780e605d72479c" /><Relationship Type="http://schemas.openxmlformats.org/officeDocument/2006/relationships/tableStyles" Target="/ppt/tableStyles.xml" Id="Ra3dd29fb376044be" /><Relationship Type="http://schemas.openxmlformats.org/officeDocument/2006/relationships/slide" Target="/ppt/slides/slide1.xml" Id="Ra1febc9ec8e44b14" /><Relationship Type="http://schemas.openxmlformats.org/officeDocument/2006/relationships/slide" Target="/ppt/slides/slide2.xml" Id="R9577f95f14e342da" /><Relationship Type="http://schemas.openxmlformats.org/officeDocument/2006/relationships/slide" Target="/ppt/slides/slide3.xml" Id="Rcf0899d0b3bf48c3" /><Relationship Type="http://schemas.openxmlformats.org/officeDocument/2006/relationships/slide" Target="/ppt/slides/slide4.xml" Id="Rcb21478edfe646e1" /><Relationship Type="http://schemas.openxmlformats.org/officeDocument/2006/relationships/slide" Target="/ppt/slides/slide5.xml" Id="R782fa7d787104895" /><Relationship Type="http://schemas.openxmlformats.org/officeDocument/2006/relationships/slide" Target="/ppt/slides/slide6.xml" Id="Ra037d34f39f945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5ddf8716f3940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1f56816b174f92" /><Relationship Type="http://schemas.openxmlformats.org/officeDocument/2006/relationships/notesMaster" Target="/ppt/notesMasters/notesMaster1.xml" Id="R0649fce64b14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7f63a54d344965" /><Relationship Type="http://schemas.openxmlformats.org/officeDocument/2006/relationships/notesMaster" Target="/ppt/notesMasters/notesMaster1.xml" Id="R719d8767ad4546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5b98b432994361" /><Relationship Type="http://schemas.openxmlformats.org/officeDocument/2006/relationships/notesMaster" Target="/ppt/notesMasters/notesMaster1.xml" Id="Rdba0f894586346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58cf5b3e2a4291" /><Relationship Type="http://schemas.openxmlformats.org/officeDocument/2006/relationships/notesMaster" Target="/ppt/notesMasters/notesMaster1.xml" Id="R8530abd7ab2147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93330a12d4901" /><Relationship Type="http://schemas.openxmlformats.org/officeDocument/2006/relationships/notesMaster" Target="/ppt/notesMasters/notesMaster1.xml" Id="Ra77350084351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8c12e4eee0439c" /><Relationship Type="http://schemas.openxmlformats.org/officeDocument/2006/relationships/notesMaster" Target="/ppt/notesMasters/notesMaster1.xml" Id="R4d55b7aa3b4a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the front door for the legal department. It is a structured first read, not final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speed, breadth, and attorney control. Those are the three professional value pillars.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cleanest place to explain the product mechanics without showing implementation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SaaS agreement first. Then optionally upload all three documents together to demonstrate mixed-packet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Ethan or Dan because it defines what good looks like when they test or explain the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video script in slide form. The key is to keep it grounded in a document and a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4cf236a7140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7dbf961934048ce" /><Relationship Type="http://schemas.openxmlformats.org/officeDocument/2006/relationships/slideLayout" Target="/ppt/slideLayouts/slideLayout2.xml" Id="R75fd8b948b4d41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fd8b948b4d41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155f37c70b46a2" /><Relationship Type="http://schemas.openxmlformats.org/officeDocument/2006/relationships/notesSlide" Target="/ppt/notesSlides/notesSlide1.xml" Id="R2bf0a1bc0ecb4b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6c2a80b1344075" /><Relationship Type="http://schemas.openxmlformats.org/officeDocument/2006/relationships/notesSlide" Target="/ppt/notesSlides/notesSlide2.xml" Id="R91fddac2e61b4b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749d0920a4131" /><Relationship Type="http://schemas.openxmlformats.org/officeDocument/2006/relationships/notesSlide" Target="/ppt/notesSlides/notesSlide3.xml" Id="Rce1d6f2cc11d48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7e65e77b64fd8" /><Relationship Type="http://schemas.openxmlformats.org/officeDocument/2006/relationships/notesSlide" Target="/ppt/notesSlides/notesSlide4.xml" Id="Ra0d2bb40abb842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9bc0a19aa45fd" /><Relationship Type="http://schemas.openxmlformats.org/officeDocument/2006/relationships/notesSlide" Target="/ppt/notesSlides/notesSlide5.xml" Id="R131ba1c3060846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c619ba8b7f4c7a" /><Relationship Type="http://schemas.openxmlformats.org/officeDocument/2006/relationships/notesSlide" Target="/ppt/notesSlides/notesSlide6.xml" Id="Re779aa47d0f847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dge-Legal workflow pilot">
            <a:extLst xmlns:a="http://schemas.openxmlformats.org/drawingml/2006/main">
              <a:ext uri="{FF2B5EF4-FFF2-40B4-BE49-F238E27FC236}">
                <a16:creationId xmlns:a16="http://schemas.microsoft.com/office/drawing/2014/main" id="{AFEB4B6F-5862-45AB-B27E-52A37539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924496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B5240-B300-4FC9-A713-9228AEA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38200"/>
            <a:ext cx="1657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Legal workflow pilot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B6DC95-B675-487E-8211-B17BFDA0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92392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F172A"/>
                </a:solidFill>
              </a:defRPr>
            </a:pPr>
            <a:r>
              <a:rPr sz="5700" b="1">
                <a:solidFill>
                  <a:srgbClr val="0F172A"/>
                </a:solidFill>
              </a:rPr>
              <a:t>Document</a:t>
            </a:r>
          </a:p>
          <a:p xmlns:a="http://schemas.openxmlformats.org/drawingml/2006/main">
            <a:pPr>
              <a:defRPr sz="5700" b="1">
                <a:solidFill>
                  <a:srgbClr val="0F172A"/>
                </a:solidFill>
              </a:defRPr>
            </a:pPr>
            <a:r>
              <a:rPr sz="5700" b="1">
                <a:solidFill>
                  <a:srgbClr val="0F172A"/>
                </a:solidFill>
              </a:rPr>
              <a:t>Onboarding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6ADAC-B0FD-4DC8-9D0C-7BC6501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18766FE-5939-44C0-AB8E-988AE3A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7867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A structured first read for unfamiliar legal documents: classify, route, synthesize, review, and decide the next move.</a:t>
            </a:r>
          </a:p>
        </p:txBody>
      </p:sp>
      <p:sp>
        <p:nvSpPr>
          <p:cNvPr id="6" name="cover-system">
            <a:extLst xmlns:a="http://schemas.openxmlformats.org/drawingml/2006/main">
              <a:ext uri="{FF2B5EF4-FFF2-40B4-BE49-F238E27FC236}">
                <a16:creationId xmlns:a16="http://schemas.microsoft.com/office/drawing/2014/main" id="{E3FFEA91-D641-4429-BC86-C053C387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565" y="742950"/>
            <a:ext cx="6833235" cy="8277225"/>
          </a:xfrm>
          <a:prstGeom xmlns:a="http://schemas.openxmlformats.org/drawingml/2006/main" prst="roundRect">
            <a:avLst>
              <a:gd name="adj" fmla="val 5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D9116-7D0A-496F-8246-DF006A25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085850"/>
            <a:ext cx="6153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Unknown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E8F07-2A3D-4E58-B584-693D1924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619250"/>
            <a:ext cx="6153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FDBFE"/>
                </a:solidFill>
              </a:defRPr>
            </a:pPr>
            <a:r>
              <a:rPr sz="1950">
                <a:solidFill>
                  <a:srgbClr val="BFDBFE"/>
                </a:solidFill>
              </a:rPr>
              <a:t>↓ classify + extract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5ADF9-B486-4E20-BE06-F37ABEE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14550"/>
            <a:ext cx="6153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Parallel legal specialists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65C9F-2C2C-4D16-88CD-141DD5B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47950"/>
            <a:ext cx="6153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FDBFE"/>
                </a:solidFill>
              </a:defRPr>
            </a:pPr>
            <a:r>
              <a:rPr sz="1950">
                <a:solidFill>
                  <a:srgbClr val="BFDBFE"/>
                </a:solidFill>
              </a:rPr>
              <a:t>↓ synthesize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BC908-7BA4-4B72-AD74-5535B8FE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43250"/>
            <a:ext cx="6153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Attorney review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8B289-2849-4CD3-92E8-35792D62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76650"/>
            <a:ext cx="6153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FDBFE"/>
                </a:solidFill>
              </a:defRPr>
            </a:pPr>
            <a:r>
              <a:rPr sz="1950">
                <a:solidFill>
                  <a:srgbClr val="BFDBFE"/>
                </a:solidFill>
              </a:rPr>
              <a:t>↓ final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82C90-6774-41B1-8D66-214FECB4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71950"/>
            <a:ext cx="6153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Prioritized next actions</a:t>
            </a:r>
          </a:p>
        </p:txBody>
      </p:sp>
      <p:sp>
        <p:nvSpPr>
          <p:cNvPr id="14" name="footer-briefing deck">
            <a:extLst xmlns:a="http://schemas.openxmlformats.org/drawingml/2006/main">
              <a:ext uri="{FF2B5EF4-FFF2-40B4-BE49-F238E27FC236}">
                <a16:creationId xmlns:a16="http://schemas.microsoft.com/office/drawing/2014/main" id="{FAB7B149-152D-4B6E-BB70-9FFE2BD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10700"/>
            <a:ext cx="9239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Forge Legal Department · Document Onboarding · briefing deck</a:t>
            </a:r>
          </a:p>
        </p:txBody>
      </p:sp>
    </p:spTree>
    <p:extLst>
      <p:ext uri="{BB962C8B-B14F-4D97-AF65-F5344CB8AC3E}">
        <p14:creationId xmlns:p14="http://schemas.microsoft.com/office/powerpoint/2010/main" val="1207163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E8B199-7831-4AA1-A971-C270DF8B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Why this workflow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EBA34-277E-482B-BA84-EE0A13E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314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Legal teams lose time before the real work starts: figuring out what arrived, who should review it, and what risk deserves attention.</a:t>
            </a:r>
          </a:p>
        </p:txBody>
      </p:sp>
      <p:sp>
        <p:nvSpPr>
          <p:cNvPr id="3" name="why-speed">
            <a:extLst xmlns:a="http://schemas.openxmlformats.org/drawingml/2006/main">
              <a:ext uri="{FF2B5EF4-FFF2-40B4-BE49-F238E27FC236}">
                <a16:creationId xmlns:a16="http://schemas.microsoft.com/office/drawing/2014/main" id="{D62CD339-7C79-47DA-BA4E-070412B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5384800" cy="6753225"/>
          </a:xfrm>
          <a:prstGeom xmlns:a="http://schemas.openxmlformats.org/drawingml/2006/main" prst="roundRect">
            <a:avLst>
              <a:gd name="adj" fmla="val 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96060-7DF5-4070-86C8-7733C4C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72229-4BF7-48C0-91FD-4DA43A15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Time to first judgment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49717-3D61-4E44-850C-4867B538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Turns raw documents into a usable first-pass memo quickly enough for intake, partner briefing, or matter triage.</a:t>
            </a:r>
          </a:p>
        </p:txBody>
      </p:sp>
      <p:sp>
        <p:nvSpPr>
          <p:cNvPr id="7" name="why-coverage">
            <a:extLst xmlns:a="http://schemas.openxmlformats.org/drawingml/2006/main">
              <a:ext uri="{FF2B5EF4-FFF2-40B4-BE49-F238E27FC236}">
                <a16:creationId xmlns:a16="http://schemas.microsoft.com/office/drawing/2014/main" id="{520B145C-D5D1-48F9-BE4F-1B0B9FCF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400300"/>
            <a:ext cx="5384800" cy="6753225"/>
          </a:xfrm>
          <a:prstGeom xmlns:a="http://schemas.openxmlformats.org/drawingml/2006/main" prst="roundRect">
            <a:avLst>
              <a:gd name="adj" fmla="val 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02BA9-FCC3-4DBB-9490-578795DE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C22E0-C3B2-4AD4-96E5-26A8F629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Broader issue spotting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37EBE-154B-442A-A868-6C63ED6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6230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Runs contract, privacy, IP, employment, compliance, litigation, corporate, and real-estate lenses where relevant.</a:t>
            </a:r>
          </a:p>
        </p:txBody>
      </p:sp>
      <p:sp>
        <p:nvSpPr>
          <p:cNvPr id="11" name="why-control">
            <a:extLst xmlns:a="http://schemas.openxmlformats.org/drawingml/2006/main">
              <a:ext uri="{FF2B5EF4-FFF2-40B4-BE49-F238E27FC236}">
                <a16:creationId xmlns:a16="http://schemas.microsoft.com/office/drawing/2014/main" id="{9ECD189C-82F0-42F5-8348-5C0E7538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400300"/>
            <a:ext cx="5384800" cy="6753225"/>
          </a:xfrm>
          <a:prstGeom xmlns:a="http://schemas.openxmlformats.org/drawingml/2006/main" prst="roundRect">
            <a:avLst>
              <a:gd name="adj" fmla="val 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AC7E2-2D90-4D3D-BF77-942C8188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6289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A6B84-8D17-4DF9-93DB-1EE38A79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7813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Professional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5C691-CFA7-447D-AC7D-663048F5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6230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Pauses before final output so the attorney can approve, reject, or modify findings before they become work product.</a:t>
            </a:r>
          </a:p>
        </p:txBody>
      </p:sp>
      <p:sp>
        <p:nvSpPr>
          <p:cNvPr id="15" name="footer-why it matters">
            <a:extLst xmlns:a="http://schemas.openxmlformats.org/drawingml/2006/main">
              <a:ext uri="{FF2B5EF4-FFF2-40B4-BE49-F238E27FC236}">
                <a16:creationId xmlns:a16="http://schemas.microsoft.com/office/drawing/2014/main" id="{C68F4B87-246E-4D25-A03B-D68BCDB8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Forge Legal Department · Document Onboarding · why it matters</a:t>
            </a:r>
          </a:p>
        </p:txBody>
      </p:sp>
    </p:spTree>
    <p:extLst>
      <p:ext uri="{BB962C8B-B14F-4D97-AF65-F5344CB8AC3E}">
        <p14:creationId xmlns:p14="http://schemas.microsoft.com/office/powerpoint/2010/main" val="248959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110B1-BB0D-465E-A9D1-820D921D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What happens under the hood</a:t>
            </a:r>
          </a:p>
        </p:txBody>
      </p:sp>
      <p:sp>
        <p:nvSpPr>
          <p:cNvPr id="2" name="step-1">
            <a:extLst xmlns:a="http://schemas.openxmlformats.org/drawingml/2006/main">
              <a:ext uri="{FF2B5EF4-FFF2-40B4-BE49-F238E27FC236}">
                <a16:creationId xmlns:a16="http://schemas.microsoft.com/office/drawing/2014/main" id="{63708B74-AE20-40B8-8828-F2E2163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5397500" cy="3738563"/>
          </a:xfrm>
          <a:prstGeom xmlns:a="http://schemas.openxmlformats.org/drawingml/2006/main" prst="roundRect">
            <a:avLst>
              <a:gd name="adj" fmla="val 1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A0BED-B553-45F5-9D99-ECA9733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09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5D091-E6D4-4B0E-946F-F4686548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01D5C-A429-4A37-930C-148057B3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933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Extract type, parties, dates, signatures, and structure.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76785B35-C4DD-48D2-A018-ECC74762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504950"/>
            <a:ext cx="5397500" cy="3738563"/>
          </a:xfrm>
          <a:prstGeom xmlns:a="http://schemas.openxmlformats.org/drawingml/2006/main" prst="roundRect">
            <a:avLst>
              <a:gd name="adj" fmla="val 1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A132F-1AD6-467B-BC62-537612D2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209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4B801-653C-429A-9521-00E67F5B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Route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42A2F-B1BE-4D90-AD7F-5C89219F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93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Select relevant legal specialists based on document content.</a:t>
            </a:r>
          </a:p>
        </p:txBody>
      </p:sp>
      <p:sp>
        <p:nvSpPr>
          <p:cNvPr id="10" name="step-3">
            <a:extLst xmlns:a="http://schemas.openxmlformats.org/drawingml/2006/main">
              <a:ext uri="{FF2B5EF4-FFF2-40B4-BE49-F238E27FC236}">
                <a16:creationId xmlns:a16="http://schemas.microsoft.com/office/drawing/2014/main" id="{E0768477-C9D2-4FEE-BD12-2D83609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1504950"/>
            <a:ext cx="5397500" cy="3738563"/>
          </a:xfrm>
          <a:prstGeom xmlns:a="http://schemas.openxmlformats.org/drawingml/2006/main" prst="roundRect">
            <a:avLst>
              <a:gd name="adj" fmla="val 1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1DCC9-351D-40ED-A5F7-C1A25BE0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733550"/>
            <a:ext cx="209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72655-674E-4991-AB60-35EC7E08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2098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E7247-F896-4BCD-AB68-133D7D9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571750"/>
            <a:ext cx="493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Run parallel specialist analysis across the legal domains.</a:t>
            </a:r>
          </a:p>
        </p:txBody>
      </p:sp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E6E5155D-994B-4DD1-92BD-7A2B85ED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3063"/>
            <a:ext cx="5397500" cy="3738563"/>
          </a:xfrm>
          <a:prstGeom xmlns:a="http://schemas.openxmlformats.org/drawingml/2006/main" prst="roundRect">
            <a:avLst>
              <a:gd name="adj" fmla="val 1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A75C5-D39A-4590-9495-626E52B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209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07890-AF69-4767-A362-AC7B8886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531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Synthesize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583CF-7015-4D18-99D9-35684E5E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15100"/>
            <a:ext cx="493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Combine specialist findings into one coherent assessment.</a:t>
            </a:r>
          </a:p>
        </p:txBody>
      </p:sp>
      <p:sp>
        <p:nvSpPr>
          <p:cNvPr id="18" name="step-5">
            <a:extLst xmlns:a="http://schemas.openxmlformats.org/drawingml/2006/main">
              <a:ext uri="{FF2B5EF4-FFF2-40B4-BE49-F238E27FC236}">
                <a16:creationId xmlns:a16="http://schemas.microsoft.com/office/drawing/2014/main" id="{E5533C34-1DFE-47A2-B06D-5379F93B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453063"/>
            <a:ext cx="5397500" cy="3738563"/>
          </a:xfrm>
          <a:prstGeom xmlns:a="http://schemas.openxmlformats.org/drawingml/2006/main" prst="roundRect">
            <a:avLst>
              <a:gd name="adj" fmla="val 1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FF85F-70B1-416E-8490-CC6FD3D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76900"/>
            <a:ext cx="209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9F0D1-727B-4312-83C5-7F89CAB6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1531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Approve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35B92-CA6B-4579-AC55-6E3B6895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933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Pause for human review before final report generation.</a:t>
            </a:r>
          </a:p>
        </p:txBody>
      </p:sp>
      <p:sp>
        <p:nvSpPr>
          <p:cNvPr id="22" name="step-6">
            <a:extLst xmlns:a="http://schemas.openxmlformats.org/drawingml/2006/main">
              <a:ext uri="{FF2B5EF4-FFF2-40B4-BE49-F238E27FC236}">
                <a16:creationId xmlns:a16="http://schemas.microsoft.com/office/drawing/2014/main" id="{DCFB213A-EBF4-4D2D-95B5-78E3A950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5453063"/>
            <a:ext cx="5397500" cy="3738563"/>
          </a:xfrm>
          <a:prstGeom xmlns:a="http://schemas.openxmlformats.org/drawingml/2006/main" prst="roundRect">
            <a:avLst>
              <a:gd name="adj" fmla="val 1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9EB68-4C0E-4C62-B026-7E3EBA30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76900"/>
            <a:ext cx="209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766E"/>
                </a:solidFill>
              </a:defRPr>
            </a:pPr>
            <a:r>
              <a:rPr sz="3000" b="1">
                <a:solidFill>
                  <a:srgbClr val="0F766E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E0A3F-9123-441C-BAC2-4FC3ABFA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1531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48318-DBBE-45D6-A1BE-567A7A23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515100"/>
            <a:ext cx="493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Deliver risk matrix, key issues, and next-step recommendations.</a:t>
            </a:r>
          </a:p>
        </p:txBody>
      </p:sp>
      <p:sp>
        <p:nvSpPr>
          <p:cNvPr id="26" name="footer-workflow path">
            <a:extLst xmlns:a="http://schemas.openxmlformats.org/drawingml/2006/main">
              <a:ext uri="{FF2B5EF4-FFF2-40B4-BE49-F238E27FC236}">
                <a16:creationId xmlns:a16="http://schemas.microsoft.com/office/drawing/2014/main" id="{92C3DD6F-2792-4774-AD7F-F7A305BB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Forge Legal Department · Document Onboarding · workflow path</a:t>
            </a:r>
          </a:p>
        </p:txBody>
      </p:sp>
    </p:spTree>
    <p:extLst>
      <p:ext uri="{BB962C8B-B14F-4D97-AF65-F5344CB8AC3E}">
        <p14:creationId xmlns:p14="http://schemas.microsoft.com/office/powerpoint/2010/main" val="1434182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0C4DF-5095-4711-A013-F739FE42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Demo with documents that expose real complexity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D8080-A2B1-4DFB-B6A6-9EF622C5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36588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pilot test pack is intentionally mixed. Each document should cause different specialist routing and different risk language.</a:t>
            </a:r>
          </a:p>
        </p:txBody>
      </p:sp>
      <p:sp>
        <p:nvSpPr>
          <p:cNvPr id="3" name="doc-saas">
            <a:extLst xmlns:a="http://schemas.openxmlformats.org/drawingml/2006/main">
              <a:ext uri="{FF2B5EF4-FFF2-40B4-BE49-F238E27FC236}">
                <a16:creationId xmlns:a16="http://schemas.microsoft.com/office/drawing/2014/main" id="{0956FE38-5DC3-4A72-A508-A214AA1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5384800" cy="6867525"/>
          </a:xfrm>
          <a:prstGeom xmlns:a="http://schemas.openxmlformats.org/drawingml/2006/main" prst="roundRect">
            <a:avLst>
              <a:gd name="adj" fmla="val 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4FE44-8521-43B0-B46D-7F389100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31A7A-31EC-48F7-B2A3-0C32920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SaaS MSA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0035B-BDF9-4FA3-A627-97965B6B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Commercial agreement with privacy, data security, IP ownership, liability cap, indemnity, renewal, and assignment issues.</a:t>
            </a:r>
          </a:p>
        </p:txBody>
      </p:sp>
      <p:sp>
        <p:nvSpPr>
          <p:cNvPr id="7" name="doc-separation">
            <a:extLst xmlns:a="http://schemas.openxmlformats.org/drawingml/2006/main">
              <a:ext uri="{FF2B5EF4-FFF2-40B4-BE49-F238E27FC236}">
                <a16:creationId xmlns:a16="http://schemas.microsoft.com/office/drawing/2014/main" id="{74B496F2-6C33-470A-AC46-5B2C0B06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324100"/>
            <a:ext cx="5384800" cy="6867525"/>
          </a:xfrm>
          <a:prstGeom xmlns:a="http://schemas.openxmlformats.org/drawingml/2006/main" prst="roundRect">
            <a:avLst>
              <a:gd name="adj" fmla="val 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FD888-7BE7-4292-9917-ECE96278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52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792EE-1302-4931-9113-E6B5EC5A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Separation agreement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0C54F-B924-436D-AE55-9A49812D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Employment release with age-discrimination timing, confidentiality, non-disparagement, restrictive covenant, and cooperation issues.</a:t>
            </a:r>
          </a:p>
        </p:txBody>
      </p:sp>
      <p:sp>
        <p:nvSpPr>
          <p:cNvPr id="11" name="doc-lease">
            <a:extLst xmlns:a="http://schemas.openxmlformats.org/drawingml/2006/main">
              <a:ext uri="{FF2B5EF4-FFF2-40B4-BE49-F238E27FC236}">
                <a16:creationId xmlns:a16="http://schemas.microsoft.com/office/drawing/2014/main" id="{ACF28B2D-3433-4FD4-926D-4849EA5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324100"/>
            <a:ext cx="5384800" cy="6867525"/>
          </a:xfrm>
          <a:prstGeom xmlns:a="http://schemas.openxmlformats.org/drawingml/2006/main" prst="roundRect">
            <a:avLst>
              <a:gd name="adj" fmla="val 7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2D12D-BC42-461A-A3AC-26342238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52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271D7-A693-40E7-A46B-CB751D75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705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Commercial 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1B72C-7916-48F2-B823-BF581B2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8610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Real-estate lease with CAM audit rights, assignment, environmental indemnity, insurance, casualty, renewal, and default issues.</a:t>
            </a:r>
          </a:p>
        </p:txBody>
      </p:sp>
      <p:sp>
        <p:nvSpPr>
          <p:cNvPr id="15" name="footer-test pack">
            <a:extLst xmlns:a="http://schemas.openxmlformats.org/drawingml/2006/main">
              <a:ext uri="{FF2B5EF4-FFF2-40B4-BE49-F238E27FC236}">
                <a16:creationId xmlns:a16="http://schemas.microsoft.com/office/drawing/2014/main" id="{3F19ED66-E938-4661-9748-63F3B382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Forge Legal Department · Document Onboarding · test pack</a:t>
            </a:r>
          </a:p>
        </p:txBody>
      </p:sp>
    </p:spTree>
    <p:extLst>
      <p:ext uri="{BB962C8B-B14F-4D97-AF65-F5344CB8AC3E}">
        <p14:creationId xmlns:p14="http://schemas.microsoft.com/office/powerpoint/2010/main" val="1024155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06FD1-DAD0-4FC9-8F42-E6F20AF5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How a professional should evaluate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E27B8-4AE7-43B4-B73F-90012883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076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The output should be judged by practical usefulness, not by whether it sounds impressive.</a:t>
            </a:r>
          </a:p>
        </p:txBody>
      </p:sp>
      <p:sp>
        <p:nvSpPr>
          <p:cNvPr id="3" name="pass-panel">
            <a:extLst xmlns:a="http://schemas.openxmlformats.org/drawingml/2006/main">
              <a:ext uri="{FF2B5EF4-FFF2-40B4-BE49-F238E27FC236}">
                <a16:creationId xmlns:a16="http://schemas.microsoft.com/office/drawing/2014/main" id="{EBC9A515-0FE3-455D-8E8D-B624A0D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7637145" cy="7286625"/>
          </a:xfrm>
          <a:prstGeom xmlns:a="http://schemas.openxmlformats.org/drawingml/2006/main" prst="roundRect">
            <a:avLst>
              <a:gd name="adj" fmla="val 52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A43A4-FDD3-4CAC-984C-174BD082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7029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47857"/>
                </a:solidFill>
              </a:defRPr>
            </a:pPr>
            <a:r>
              <a:rPr sz="2550" b="1">
                <a:solidFill>
                  <a:srgbClr val="047857"/>
                </a:solidFill>
              </a:rPr>
              <a:t>Pass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47C11-6E38-4D07-AB8F-AB0C090A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7029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Clear classification and metadata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Specialist findings tied to document language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Cross-domain risks are visible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Risk levels and next actions are useful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Human review occurs before final output</a:t>
            </a:r>
          </a:p>
        </p:txBody>
      </p:sp>
      <p:sp>
        <p:nvSpPr>
          <p:cNvPr id="6" name="fail-panel">
            <a:extLst xmlns:a="http://schemas.openxmlformats.org/drawingml/2006/main">
              <a:ext uri="{FF2B5EF4-FFF2-40B4-BE49-F238E27FC236}">
                <a16:creationId xmlns:a16="http://schemas.microsoft.com/office/drawing/2014/main" id="{A1ABACBF-7652-43B3-B4E5-258F53E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45" y="1905000"/>
            <a:ext cx="8441055" cy="7286625"/>
          </a:xfrm>
          <a:prstGeom xmlns:a="http://schemas.openxmlformats.org/drawingml/2006/main" prst="roundRect">
            <a:avLst>
              <a:gd name="adj" fmla="val 52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75D7F-26E1-4DD2-99B2-6BE44B1B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0980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1C1C"/>
                </a:solidFill>
              </a:defRPr>
            </a:pPr>
            <a:r>
              <a:rPr sz="2550" b="1">
                <a:solidFill>
                  <a:srgbClr val="B91C1C"/>
                </a:solidFill>
              </a:rPr>
              <a:t>Fail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E0B78-FAEC-4EA1-847C-5053F12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05100"/>
            <a:ext cx="78295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Generic legal summary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All documents treated the same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Findings not grounded in facts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No priority or owner for next steps</a:t>
            </a:r>
          </a:p>
          <a:p xmlns:a="http://schemas.openxmlformats.org/drawingml/2006/main">
            <a:pPr>
              <a:defRPr sz="1800">
                <a:solidFill>
                  <a:srgbClr val="0F172A"/>
                </a:solidFill>
              </a:defRPr>
            </a:pPr>
            <a:r>
              <a:rPr sz="1800">
                <a:solidFill>
                  <a:srgbClr val="0F172A"/>
                </a:solidFill>
              </a:rPr>
              <a:t>• No meaningful attorney control point</a:t>
            </a:r>
          </a:p>
        </p:txBody>
      </p:sp>
      <p:sp>
        <p:nvSpPr>
          <p:cNvPr id="9" name="footer-evaluation criteria">
            <a:extLst xmlns:a="http://schemas.openxmlformats.org/drawingml/2006/main">
              <a:ext uri="{FF2B5EF4-FFF2-40B4-BE49-F238E27FC236}">
                <a16:creationId xmlns:a16="http://schemas.microsoft.com/office/drawing/2014/main" id="{948FF3C4-4BC4-4B70-A74C-DEC22EEF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7639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Forge Legal Department · Document Onboarding · 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607051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10409-E814-43BD-9FE1-96F3C6C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661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Recommended video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C9B91-2836-46FC-B9E7-412AF654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2839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75569"/>
                </a:solidFill>
              </a:defRPr>
            </a:pPr>
            <a:r>
              <a:rPr sz="2100">
                <a:solidFill>
                  <a:srgbClr val="475569"/>
                </a:solidFill>
              </a:rPr>
              <a:t>Keep the recording short and practical. Show one strong example instead of trying to explain every possible document type.</a:t>
            </a:r>
          </a:p>
        </p:txBody>
      </p:sp>
      <p:sp>
        <p:nvSpPr>
          <p:cNvPr id="3" name="video-1">
            <a:extLst xmlns:a="http://schemas.openxmlformats.org/drawingml/2006/main">
              <a:ext uri="{FF2B5EF4-FFF2-40B4-BE49-F238E27FC236}">
                <a16:creationId xmlns:a16="http://schemas.microsoft.com/office/drawing/2014/main" id="{D68E1B49-1BE1-47B1-979A-FC22E4F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3995738" cy="6867525"/>
          </a:xfrm>
          <a:prstGeom xmlns:a="http://schemas.openxmlformats.org/drawingml/2006/main" prst="roundRect">
            <a:avLst>
              <a:gd name="adj" fmla="val 9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3CCAE-50AC-495C-B45A-D3B8DA46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8C84A-A952-4CAD-B3C6-8244D428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1. Set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6863E-4835-4348-808F-0AD85D70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3467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“We just received a legal document and need a reliable first-pass view.”</a:t>
            </a:r>
          </a:p>
        </p:txBody>
      </p:sp>
      <p:sp>
        <p:nvSpPr>
          <p:cNvPr id="7" name="video-2">
            <a:extLst xmlns:a="http://schemas.openxmlformats.org/drawingml/2006/main">
              <a:ext uri="{FF2B5EF4-FFF2-40B4-BE49-F238E27FC236}">
                <a16:creationId xmlns:a16="http://schemas.microsoft.com/office/drawing/2014/main" id="{68CDF958-2D05-4B6E-B99B-02F1B3AB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2324100"/>
            <a:ext cx="3995738" cy="6867525"/>
          </a:xfrm>
          <a:prstGeom xmlns:a="http://schemas.openxmlformats.org/drawingml/2006/main" prst="roundRect">
            <a:avLst>
              <a:gd name="adj" fmla="val 9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99BAC-4CF7-4C62-9590-FCD79BAF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C65E3-A4E7-41D8-9D6E-5F27D7B5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051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2. Upload SaaS MSA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C557B-FCE1-43E9-B0C1-474FE8DF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3467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Call out why it is mixed-risk: commercial, privacy, IP, security, and indemnity.</a:t>
            </a:r>
          </a:p>
        </p:txBody>
      </p:sp>
      <p:sp>
        <p:nvSpPr>
          <p:cNvPr id="11" name="video-3">
            <a:extLst xmlns:a="http://schemas.openxmlformats.org/drawingml/2006/main">
              <a:ext uri="{FF2B5EF4-FFF2-40B4-BE49-F238E27FC236}">
                <a16:creationId xmlns:a16="http://schemas.microsoft.com/office/drawing/2014/main" id="{116BFE2F-2C07-4C2C-A176-3C92214F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24100"/>
            <a:ext cx="3995738" cy="6867525"/>
          </a:xfrm>
          <a:prstGeom xmlns:a="http://schemas.openxmlformats.org/drawingml/2006/main" prst="roundRect">
            <a:avLst>
              <a:gd name="adj" fmla="val 9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52AF8-3902-49FF-81FE-17FDFACC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3BF4-0AF2-4C6D-AC8A-04B5A02F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3. Pause at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5699E-B34A-4BF8-A825-167E5E98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3467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Explain that the human gate is the professional control point.</a:t>
            </a:r>
          </a:p>
        </p:txBody>
      </p:sp>
      <p:sp>
        <p:nvSpPr>
          <p:cNvPr id="15" name="video-4">
            <a:extLst xmlns:a="http://schemas.openxmlformats.org/drawingml/2006/main">
              <a:ext uri="{FF2B5EF4-FFF2-40B4-BE49-F238E27FC236}">
                <a16:creationId xmlns:a16="http://schemas.microsoft.com/office/drawing/2014/main" id="{556C9576-D786-4870-B69F-649910C9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063" y="2324100"/>
            <a:ext cx="3995738" cy="6867525"/>
          </a:xfrm>
          <a:prstGeom xmlns:a="http://schemas.openxmlformats.org/drawingml/2006/main" prst="roundRect">
            <a:avLst>
              <a:gd name="adj" fmla="val 9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2D866-1F5C-4D84-BEC1-22B77FCC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552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ED4E1-5070-4B25-BFFE-524E8D7B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4. Land on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42E5F-3837-4DD6-B3C3-59C172AA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086100"/>
            <a:ext cx="3467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Show risk matrix, prioritized findings, and downstream workflow recommendation.</a:t>
            </a:r>
          </a:p>
        </p:txBody>
      </p:sp>
      <p:sp>
        <p:nvSpPr>
          <p:cNvPr id="19" name="footer-video guide">
            <a:extLst xmlns:a="http://schemas.openxmlformats.org/drawingml/2006/main">
              <a:ext uri="{FF2B5EF4-FFF2-40B4-BE49-F238E27FC236}">
                <a16:creationId xmlns:a16="http://schemas.microsoft.com/office/drawing/2014/main" id="{3BFE4679-8793-4986-82F9-D93A983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86900"/>
            <a:ext cx="1661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Forge Legal Department · Document Onboarding · video guide</a:t>
            </a:r>
          </a:p>
        </p:txBody>
      </p:sp>
    </p:spTree>
    <p:extLst>
      <p:ext uri="{BB962C8B-B14F-4D97-AF65-F5344CB8AC3E}">
        <p14:creationId xmlns:p14="http://schemas.microsoft.com/office/powerpoint/2010/main" val="1976937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2026-04-24T13:25:57.4940000Z</dcterms:created>
  <dcterms:modified xsi:type="dcterms:W3CDTF">2026-04-24T13:25:57.4940000Z</dcterms:modified>
</coreProperties>
</file>